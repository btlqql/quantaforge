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772d996c794ac0" /><Relationship Type="http://schemas.openxmlformats.org/officeDocument/2006/relationships/extended-properties" Target="/docProps/app.xml" Id="R5b7c8129832b427e" /><Relationship Type="http://schemas.openxmlformats.org/officeDocument/2006/relationships/officeDocument" Target="/ppt/presentation.xml" Id="Rae8843f98cbe4e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199fc7dbad40df"/>
  </p:sldMasterIdLst>
  <p:notesMasterIdLst>
    <p:notesMasterId xmlns:r="http://schemas.openxmlformats.org/officeDocument/2006/relationships" r:id="R61093e7b310a4d38"/>
  </p:notesMasterIdLst>
  <p:sldIdLst>
    <p:sldId xmlns:r="http://schemas.openxmlformats.org/officeDocument/2006/relationships" id="256" r:id="Rc768d45187e9429b"/>
    <p:sldId xmlns:r="http://schemas.openxmlformats.org/officeDocument/2006/relationships" id="257" r:id="Re7a9d34e45c949b5"/>
    <p:sldId xmlns:r="http://schemas.openxmlformats.org/officeDocument/2006/relationships" id="258" r:id="R8f76495a48a64962"/>
    <p:sldId xmlns:r="http://schemas.openxmlformats.org/officeDocument/2006/relationships" id="259" r:id="R53e9c509f39a440b"/>
    <p:sldId xmlns:r="http://schemas.openxmlformats.org/officeDocument/2006/relationships" id="260" r:id="Rd1347e4c25e04416"/>
    <p:sldId xmlns:r="http://schemas.openxmlformats.org/officeDocument/2006/relationships" id="261" r:id="R655100da42ab4069"/>
    <p:sldId xmlns:r="http://schemas.openxmlformats.org/officeDocument/2006/relationships" id="262" r:id="R153d00000a404ffc"/>
    <p:sldId xmlns:r="http://schemas.openxmlformats.org/officeDocument/2006/relationships" id="263" r:id="R479895e7a272497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b3c44ab1a44a1b" /><Relationship Type="http://schemas.openxmlformats.org/officeDocument/2006/relationships/slideMaster" Target="/ppt/slideMasters/slideMaster1.xml" Id="Rd6199fc7dbad40df" /><Relationship Type="http://schemas.openxmlformats.org/officeDocument/2006/relationships/notesMaster" Target="/ppt/notesMasters/notesMaster1.xml" Id="R61093e7b310a4d38" /><Relationship Type="http://schemas.openxmlformats.org/officeDocument/2006/relationships/presProps" Target="/ppt/presProps.xml" Id="R63e8e8df486b4016" /><Relationship Type="http://schemas.openxmlformats.org/officeDocument/2006/relationships/tableStyles" Target="/ppt/tableStyles.xml" Id="R628b257e5c99473e" /><Relationship Type="http://schemas.openxmlformats.org/officeDocument/2006/relationships/slide" Target="/ppt/slides/slide1.xml" Id="Rc768d45187e9429b" /><Relationship Type="http://schemas.openxmlformats.org/officeDocument/2006/relationships/slide" Target="/ppt/slides/slide2.xml" Id="Re7a9d34e45c949b5" /><Relationship Type="http://schemas.openxmlformats.org/officeDocument/2006/relationships/slide" Target="/ppt/slides/slide3.xml" Id="R8f76495a48a64962" /><Relationship Type="http://schemas.openxmlformats.org/officeDocument/2006/relationships/slide" Target="/ppt/slides/slide4.xml" Id="R53e9c509f39a440b" /><Relationship Type="http://schemas.openxmlformats.org/officeDocument/2006/relationships/slide" Target="/ppt/slides/slide5.xml" Id="Rd1347e4c25e04416" /><Relationship Type="http://schemas.openxmlformats.org/officeDocument/2006/relationships/slide" Target="/ppt/slides/slide6.xml" Id="R655100da42ab4069" /><Relationship Type="http://schemas.openxmlformats.org/officeDocument/2006/relationships/slide" Target="/ppt/slides/slide7.xml" Id="R153d00000a404ffc" /><Relationship Type="http://schemas.openxmlformats.org/officeDocument/2006/relationships/slide" Target="/ppt/slides/slide8.xml" Id="R479895e7a27249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cbb2f0ec0648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fdb590b2cf4607" /><Relationship Type="http://schemas.openxmlformats.org/officeDocument/2006/relationships/notesMaster" Target="/ppt/notesMasters/notesMaster1.xml" Id="R7064114cba4548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bb187eba094b9b" /><Relationship Type="http://schemas.openxmlformats.org/officeDocument/2006/relationships/notesMaster" Target="/ppt/notesMasters/notesMaster1.xml" Id="R041be8773d8049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84b9b5637943b7" /><Relationship Type="http://schemas.openxmlformats.org/officeDocument/2006/relationships/notesMaster" Target="/ppt/notesMasters/notesMaster1.xml" Id="R7d719a3b8bcc46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67b014d95d4e5f" /><Relationship Type="http://schemas.openxmlformats.org/officeDocument/2006/relationships/notesMaster" Target="/ppt/notesMasters/notesMaster1.xml" Id="R0aa3fe82ff3444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547e470d184593" /><Relationship Type="http://schemas.openxmlformats.org/officeDocument/2006/relationships/notesMaster" Target="/ppt/notesMasters/notesMaster1.xml" Id="R4308e91a2d4147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55878887804611" /><Relationship Type="http://schemas.openxmlformats.org/officeDocument/2006/relationships/notesMaster" Target="/ppt/notesMasters/notesMaster1.xml" Id="R03e6bab5ef1542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b54cdd54284b64" /><Relationship Type="http://schemas.openxmlformats.org/officeDocument/2006/relationships/notesMaster" Target="/ppt/notesMasters/notesMaster1.xml" Id="R1fd555092d5347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b7fe36cda34898" /><Relationship Type="http://schemas.openxmlformats.org/officeDocument/2006/relationships/notesMaster" Target="/ppt/notesMasters/notesMaster1.xml" Id="R302cdbcb371f4c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79a66d706a49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13736d68934d0d" /><Relationship Type="http://schemas.openxmlformats.org/officeDocument/2006/relationships/slideLayout" Target="/ppt/slideLayouts/slideLayout1.xml" Id="Rfdede6f0032e44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ede6f0032e44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4157d6ad24de0" /><Relationship Type="http://schemas.openxmlformats.org/officeDocument/2006/relationships/image" Target="/ppt/media/image.png" Id="Rb53ee0f8f4d74e22" /><Relationship Type="http://schemas.openxmlformats.org/officeDocument/2006/relationships/notesSlide" Target="/ppt/notesSlides/notesSlide1.xml" Id="R1abb18b8e64c45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8511e006d4ffc" /><Relationship Type="http://schemas.openxmlformats.org/officeDocument/2006/relationships/notesSlide" Target="/ppt/notesSlides/notesSlide2.xml" Id="Rbc3cfbcf8b9f48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b1e76e2a843a2" /><Relationship Type="http://schemas.openxmlformats.org/officeDocument/2006/relationships/notesSlide" Target="/ppt/notesSlides/notesSlide3.xml" Id="Rfeca9f478f9847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a9d48275de4368" /><Relationship Type="http://schemas.openxmlformats.org/officeDocument/2006/relationships/notesSlide" Target="/ppt/notesSlides/notesSlide4.xml" Id="R35cc6be5fedd4c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1f52c55094ceb" /><Relationship Type="http://schemas.openxmlformats.org/officeDocument/2006/relationships/notesSlide" Target="/ppt/notesSlides/notesSlide5.xml" Id="Rd24d9c7a50b744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244ba30cd42c4" /><Relationship Type="http://schemas.openxmlformats.org/officeDocument/2006/relationships/image" Target="/ppt/media/image2.png" Id="R94f1ce0de4f440f9" /><Relationship Type="http://schemas.openxmlformats.org/officeDocument/2006/relationships/image" Target="/ppt/media/image3.png" Id="R08b4ee3f085a41f4" /><Relationship Type="http://schemas.openxmlformats.org/officeDocument/2006/relationships/notesSlide" Target="/ppt/notesSlides/notesSlide6.xml" Id="R5217c1dd416b42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59501be0a474b" /><Relationship Type="http://schemas.openxmlformats.org/officeDocument/2006/relationships/chart" Target="/ppt/slides/charts/chart1.xml" Id="Rf5a023cb79d34141" /><Relationship Type="http://schemas.openxmlformats.org/officeDocument/2006/relationships/notesSlide" Target="/ppt/notesSlides/notesSlide7.xml" Id="R872034169bad4f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c44a21f6244f9" /><Relationship Type="http://schemas.openxmlformats.org/officeDocument/2006/relationships/notesSlide" Target="/ppt/notesSlides/notesSlide8.xml" Id="R1d7da81eadb7491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CPU (ms)</c:v>
          </c:tx>
          <c:spPr>
            <a:solidFill xmlns:a="http://schemas.openxmlformats.org/drawingml/2006/main">
              <a:srgbClr val="78D4E8"/>
            </a:solidFill>
          </c:spPr>
          <c:cat>
            <c:numLit>
              <c:formatCode>General</c:formatCode>
              <c:ptCount val="5"/>
              <c:pt idx="0">
                <c:v>4</c:v>
              </c:pt>
              <c:pt idx="1">
                <c:v>8</c:v>
              </c:pt>
              <c:pt idx="2">
                <c:v>12</c:v>
              </c:pt>
              <c:pt idx="3">
                <c:v>16</c:v>
              </c:pt>
              <c:pt idx="4">
                <c:v>20</c:v>
              </c:pt>
            </c:numLit>
          </c:cat>
          <c:val>
            <c:numLit>
              <c:formatCode>General</c:formatCode>
              <c:ptCount val="5"/>
              <c:pt idx="0">
                <c:v>0.265</c:v>
              </c:pt>
              <c:pt idx="1">
                <c:v>0.334</c:v>
              </c:pt>
              <c:pt idx="2">
                <c:v>0.476</c:v>
              </c:pt>
              <c:pt idx="3">
                <c:v>1.488</c:v>
              </c:pt>
              <c:pt idx="4">
                <c:v>3.234</c:v>
              </c:pt>
            </c:numLit>
          </c:val>
        </c:ser>
        <c:ser>
          <c:idx val="1"/>
          <c:order val="1"/>
          <c:tx>
            <c:v>Biren GPU (ms)</c:v>
          </c:tx>
          <c:spPr>
            <a:solidFill xmlns:a="http://schemas.openxmlformats.org/drawingml/2006/main">
              <a:srgbClr val="087C99"/>
            </a:solidFill>
          </c:spPr>
          <c:cat>
            <c:numLit>
              <c:formatCode>General</c:formatCode>
              <c:ptCount val="5"/>
              <c:pt idx="0">
                <c:v>4</c:v>
              </c:pt>
              <c:pt idx="1">
                <c:v>8</c:v>
              </c:pt>
              <c:pt idx="2">
                <c:v>12</c:v>
              </c:pt>
              <c:pt idx="3">
                <c:v>16</c:v>
              </c:pt>
              <c:pt idx="4">
                <c:v>20</c:v>
              </c:pt>
            </c:numLit>
          </c:cat>
          <c:val>
            <c:numLit>
              <c:formatCode>General</c:formatCode>
              <c:ptCount val="5"/>
              <c:pt idx="0">
                <c:v>2.354</c:v>
              </c:pt>
              <c:pt idx="1">
                <c:v>3.63</c:v>
              </c:pt>
              <c:pt idx="2">
                <c:v>8.57</c:v>
              </c:pt>
              <c:pt idx="3">
                <c:v>14.649</c:v>
              </c:pt>
              <c:pt idx="4">
                <c:v>41.782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9C6C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4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3F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</a:p>
        </c:txPr>
        <c:crossAx val="48650112"/>
        <c:crossBetween val="between"/>
        <c:majorUnit val="1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7FAF531B-E8BF-4E73-B584-A0AAE14A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"/>
            <a:ext cx="5619750" cy="5943600"/>
          </a:xfrm>
          <a:prstGeom xmlns:a="http://schemas.openxmlformats.org/drawingml/2006/main" prst="roundRect">
            <a:avLst>
              <a:gd name="adj" fmla="val 1356"/>
            </a:avLst>
          </a:prstGeom>
          <a:solidFill xmlns:a="http://schemas.openxmlformats.org/drawingml/2006/main">
            <a:srgbClr val="EAF8FB"/>
          </a:solidFill>
          <a:ln xmlns:a="http://schemas.openxmlformats.org/drawingml/2006/main" w="9525">
            <a:solidFill>
              <a:srgbClr val="B9C6CE"/>
            </a:solidFill>
            <a:prstDash val="solid"/>
          </a:ln>
        </p:spPr>
      </p:sp>
      <p:sp>
        <p:nvSpPr>
          <p:cNvPr id="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2C84F53C-4BB7-4056-8345-7058F73D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4095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C9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QUANTAFORGE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3B8A5CC-49FA-4AF3-BFE5-C90F3BA2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5381625" cy="2571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一句自然语言，
交付一份可验证的
量子实验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BC0F9D8-481D-474B-988D-E183EC6B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57700"/>
            <a:ext cx="4762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可验证量子实验智能体</a:t>
            </a:r>
          </a:p>
        </p:txBody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8909CFB6-75B9-4D82-BA0A-A64D9BAD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91125"/>
            <a:ext cx="4953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UnitaryLab × Biren106M  ·  赛道四 / 赛题一</a:t>
            </a:r>
          </a:p>
        </p:txBody>
      </p:sp>
      <p:sp>
        <p:nvSpPr>
          <p:cNvPr id="6" name="cover-image-label">
            <a:extLst xmlns:a="http://schemas.openxmlformats.org/drawingml/2006/main">
              <a:ext uri="{FF2B5EF4-FFF2-40B4-BE49-F238E27FC236}">
                <a16:creationId xmlns:a16="http://schemas.microsoft.com/office/drawing/2014/main" id="{C4E3EA03-F627-4C4F-B559-A07A7A88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9055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真实 QAOA 线路产物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3ee0f8f4d74e22"/>
          <a:stretch xmlns:a="http://schemas.openxmlformats.org/drawingml/2006/main"/>
        </p:blipFill>
        <p:spPr>
          <a:xfrm xmlns:a="http://schemas.openxmlformats.org/drawingml/2006/main">
            <a:off x="6477000" y="2237280"/>
            <a:ext cx="5048250" cy="18881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11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D41917E6-4F1C-42B5-B29C-4BA49AE6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58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真正的门槛，是证明量子结果可信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9CC1566F-EF91-4617-B543-0F736835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02</a:t>
            </a:r>
          </a:p>
        </p:txBody>
      </p:sp>
      <p:sp>
        <p:nvSpPr>
          <p:cNvPr id="3" name="problem-context">
            <a:extLst xmlns:a="http://schemas.openxmlformats.org/drawingml/2006/main">
              <a:ext uri="{FF2B5EF4-FFF2-40B4-BE49-F238E27FC236}">
                <a16:creationId xmlns:a16="http://schemas.microsoft.com/office/drawing/2014/main" id="{D6A49BA1-F57B-42D9-9C97-E8903B56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104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许多量子演示止步于“线路能运行”。科研与教学真正需要的是：输入可解释、设备可证明、结论可核验、过程可复现。</a:t>
            </a:r>
          </a:p>
        </p:txBody>
      </p:sp>
      <p:sp>
        <p:nvSpPr>
          <p:cNvPr id="4" name="typical-panel">
            <a:extLst xmlns:a="http://schemas.openxmlformats.org/drawingml/2006/main">
              <a:ext uri="{FF2B5EF4-FFF2-40B4-BE49-F238E27FC236}">
                <a16:creationId xmlns:a16="http://schemas.microsoft.com/office/drawing/2014/main" id="{BF85112A-E086-4A8B-8071-1AF7D34C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547687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qf-panel">
            <a:extLst xmlns:a="http://schemas.openxmlformats.org/drawingml/2006/main">
              <a:ext uri="{FF2B5EF4-FFF2-40B4-BE49-F238E27FC236}">
                <a16:creationId xmlns:a16="http://schemas.microsoft.com/office/drawing/2014/main" id="{07A1A712-26ED-4571-9D45-A9F99CB8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24150"/>
            <a:ext cx="5562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5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ypical-title">
            <a:extLst xmlns:a="http://schemas.openxmlformats.org/drawingml/2006/main">
              <a:ext uri="{FF2B5EF4-FFF2-40B4-BE49-F238E27FC236}">
                <a16:creationId xmlns:a16="http://schemas.microsoft.com/office/drawing/2014/main" id="{2972130C-2F69-47B2-BAFB-AC3A9684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常见演示</a:t>
            </a:r>
          </a:p>
        </p:txBody>
      </p:sp>
      <p:sp>
        <p:nvSpPr>
          <p:cNvPr id="7" name="typical-body">
            <a:extLst xmlns:a="http://schemas.openxmlformats.org/drawingml/2006/main">
              <a:ext uri="{FF2B5EF4-FFF2-40B4-BE49-F238E27FC236}">
                <a16:creationId xmlns:a16="http://schemas.microsoft.com/office/drawing/2014/main" id="{12CC839D-F85E-434F-A9C2-E913F6ED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90925"/>
            <a:ext cx="4667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生成代码或展示概率图
结果正确性依赖人工判断</a:t>
            </a:r>
          </a:p>
        </p:txBody>
      </p:sp>
      <p:sp>
        <p:nvSpPr>
          <p:cNvPr id="8" name="qf-title">
            <a:extLst xmlns:a="http://schemas.openxmlformats.org/drawingml/2006/main">
              <a:ext uri="{FF2B5EF4-FFF2-40B4-BE49-F238E27FC236}">
                <a16:creationId xmlns:a16="http://schemas.microsoft.com/office/drawing/2014/main" id="{8E043688-DE59-4B20-9E90-41C56242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48000"/>
            <a:ext cx="2857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87C9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QuantaForge</a:t>
            </a:r>
          </a:p>
        </p:txBody>
      </p:sp>
      <p:sp>
        <p:nvSpPr>
          <p:cNvPr id="9" name="qf-body">
            <a:extLst xmlns:a="http://schemas.openxmlformats.org/drawingml/2006/main">
              <a:ext uri="{FF2B5EF4-FFF2-40B4-BE49-F238E27FC236}">
                <a16:creationId xmlns:a16="http://schemas.microsoft.com/office/drawing/2014/main" id="{2E678636-D32D-4FB4-8FBD-D4995F6C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4762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结构化协议驱动真实执行
独立验证器决定 PASS / FAIL</a:t>
            </a:r>
          </a:p>
        </p:txBody>
      </p:sp>
      <p:sp>
        <p:nvSpPr>
          <p:cNvPr id="10" name="detail-1">
            <a:extLst xmlns:a="http://schemas.openxmlformats.org/drawingml/2006/main">
              <a:ext uri="{FF2B5EF4-FFF2-40B4-BE49-F238E27FC236}">
                <a16:creationId xmlns:a16="http://schemas.microsoft.com/office/drawing/2014/main" id="{8665D20D-6F8C-4BF9-AA47-45837274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白名单任务</a:t>
            </a:r>
          </a:p>
        </p:txBody>
      </p:sp>
      <p:sp>
        <p:nvSpPr>
          <p:cNvPr id="11" name="detail-2">
            <a:extLst xmlns:a="http://schemas.openxmlformats.org/drawingml/2006/main">
              <a:ext uri="{FF2B5EF4-FFF2-40B4-BE49-F238E27FC236}">
                <a16:creationId xmlns:a16="http://schemas.microsoft.com/office/drawing/2014/main" id="{02BA705A-16F2-43ED-A831-8C411C44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能力边界</a:t>
            </a:r>
          </a:p>
        </p:txBody>
      </p:sp>
      <p:sp>
        <p:nvSpPr>
          <p:cNvPr id="12" name="detail-3">
            <a:extLst xmlns:a="http://schemas.openxmlformats.org/drawingml/2006/main">
              <a:ext uri="{FF2B5EF4-FFF2-40B4-BE49-F238E27FC236}">
                <a16:creationId xmlns:a16="http://schemas.microsoft.com/office/drawing/2014/main" id="{CDD10B2A-430B-43EC-B112-F907F942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625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真实 GPU</a:t>
            </a:r>
          </a:p>
        </p:txBody>
      </p:sp>
      <p:sp>
        <p:nvSpPr>
          <p:cNvPr id="13" name="detail-4">
            <a:extLst xmlns:a="http://schemas.openxmlformats.org/drawingml/2006/main">
              <a:ext uri="{FF2B5EF4-FFF2-40B4-BE49-F238E27FC236}">
                <a16:creationId xmlns:a16="http://schemas.microsoft.com/office/drawing/2014/main" id="{F9424791-4B0B-404B-9324-C6172B51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625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证据归档</a:t>
            </a:r>
          </a:p>
        </p:txBody>
      </p:sp>
      <p:sp>
        <p:nvSpPr>
          <p:cNvPr id="14" name="detail-1b">
            <a:extLst xmlns:a="http://schemas.openxmlformats.org/drawingml/2006/main">
              <a:ext uri="{FF2B5EF4-FFF2-40B4-BE49-F238E27FC236}">
                <a16:creationId xmlns:a16="http://schemas.microsoft.com/office/drawing/2014/main" id="{25EE76E7-5EBC-412C-873C-726F78F8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435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不执行任意代码</a:t>
            </a:r>
          </a:p>
        </p:txBody>
      </p:sp>
      <p:sp>
        <p:nvSpPr>
          <p:cNvPr id="15" name="detail-2b">
            <a:extLst xmlns:a="http://schemas.openxmlformats.org/drawingml/2006/main">
              <a:ext uri="{FF2B5EF4-FFF2-40B4-BE49-F238E27FC236}">
                <a16:creationId xmlns:a16="http://schemas.microsoft.com/office/drawing/2014/main" id="{C8137FAD-27D3-4977-87E6-6513750E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435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规模与预算校验</a:t>
            </a:r>
          </a:p>
        </p:txBody>
      </p:sp>
      <p:sp>
        <p:nvSpPr>
          <p:cNvPr id="16" name="detail-3b">
            <a:extLst xmlns:a="http://schemas.openxmlformats.org/drawingml/2006/main">
              <a:ext uri="{FF2B5EF4-FFF2-40B4-BE49-F238E27FC236}">
                <a16:creationId xmlns:a16="http://schemas.microsoft.com/office/drawing/2014/main" id="{8FEE70F0-F66D-4379-8E27-75F5B959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435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UnitaryLab GPU 后端</a:t>
            </a:r>
          </a:p>
        </p:txBody>
      </p:sp>
      <p:sp>
        <p:nvSpPr>
          <p:cNvPr id="17" name="detail-4b">
            <a:extLst xmlns:a="http://schemas.openxmlformats.org/drawingml/2006/main">
              <a:ext uri="{FF2B5EF4-FFF2-40B4-BE49-F238E27FC236}">
                <a16:creationId xmlns:a16="http://schemas.microsoft.com/office/drawing/2014/main" id="{248D1B2A-21CC-4A62-B574-4F51C3AF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14350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JSON / SVG / 报告</a:t>
            </a:r>
          </a:p>
        </p:txBody>
      </p:sp>
    </p:spTree>
    <p:extLst>
      <p:ext uri="{BB962C8B-B14F-4D97-AF65-F5344CB8AC3E}">
        <p14:creationId xmlns:p14="http://schemas.microsoft.com/office/powerpoint/2010/main" val="2694784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">
            <a:extLst xmlns:a="http://schemas.openxmlformats.org/drawingml/2006/main">
              <a:ext uri="{FF2B5EF4-FFF2-40B4-BE49-F238E27FC236}">
                <a16:creationId xmlns:a16="http://schemas.microsoft.com/office/drawing/2014/main" id="{E74E544A-CD1F-4551-BF71-3A1DA1E3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58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自然语言只表达意图，确定性流程负责科学可信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1BC66739-45BA-403E-BC0B-76EAE3F5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03</a:t>
            </a:r>
          </a:p>
        </p:txBody>
      </p:sp>
      <p:cxnSp>
        <p:nvCxnSpPr>
          <p:cNvPr id="18" name="timeline"/>
          <p:cNvCxnSpPr/>
          <p:nvPr/>
        </p:nvCxnSpPr>
        <p:spPr>
          <a:xfrm xmlns:a="http://schemas.openxmlformats.org/drawingml/2006/main">
            <a:off x="514350" y="3143250"/>
            <a:ext cx="106680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71018"/>
            </a:solidFill>
            <a:prstDash val="solid"/>
          </a:ln>
        </p:spPr>
      </p:cxnSp>
      <p:sp>
        <p:nvSpPr>
          <p:cNvPr id="4" name="dot-1">
            <a:extLst xmlns:a="http://schemas.openxmlformats.org/drawingml/2006/main">
              <a:ext uri="{FF2B5EF4-FFF2-40B4-BE49-F238E27FC236}">
                <a16:creationId xmlns:a16="http://schemas.microsoft.com/office/drawing/2014/main" id="{DCAF00EF-C543-4982-8B08-3AFFDCD5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575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0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ot-2">
            <a:extLst xmlns:a="http://schemas.openxmlformats.org/drawingml/2006/main">
              <a:ext uri="{FF2B5EF4-FFF2-40B4-BE49-F238E27FC236}">
                <a16:creationId xmlns:a16="http://schemas.microsoft.com/office/drawing/2014/main" id="{A1CD032A-F399-4648-8138-0B9A852D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575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0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3">
            <a:extLst xmlns:a="http://schemas.openxmlformats.org/drawingml/2006/main">
              <a:ext uri="{FF2B5EF4-FFF2-40B4-BE49-F238E27FC236}">
                <a16:creationId xmlns:a16="http://schemas.microsoft.com/office/drawing/2014/main" id="{30AEEBEF-2B7F-4E17-AF17-8F807251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575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A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83A1E3B-F9A2-44F9-9EF5-8A187E07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2667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01  理解与约束</a:t>
            </a:r>
          </a:p>
        </p:txBody>
      </p:sp>
      <p:sp>
        <p:nvSpPr>
          <p:cNvPr id="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27D0B80C-76C2-4BA0-BBCD-F27F0289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76500"/>
            <a:ext cx="2667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02  构建与执行</a:t>
            </a:r>
          </a:p>
        </p:txBody>
      </p:sp>
      <p:sp>
        <p:nvSpPr>
          <p:cNvPr id="9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7802D35B-F258-4F96-BBE6-4406EDF5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76500"/>
            <a:ext cx="2667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C9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03  验证与报告</a:t>
            </a:r>
          </a:p>
        </p:txBody>
      </p:sp>
      <p:sp>
        <p:nvSpPr>
          <p:cNvPr id="10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7569443-EBD2-4A06-8FFD-436A7F5D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3048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意图 → 协议</a:t>
            </a:r>
          </a:p>
        </p:txBody>
      </p:sp>
      <p:sp>
        <p:nvSpPr>
          <p:cNvPr id="11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8FC07D3-A650-49B7-B077-096C5143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31432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识别算法与参数
校验规模、目标态、图边和预算</a:t>
            </a:r>
          </a:p>
        </p:txBody>
      </p:sp>
      <p:sp>
        <p:nvSpPr>
          <p:cNvPr id="12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9119B4A9-7107-4D7A-AD73-EF4E728B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19500"/>
            <a:ext cx="3238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协议 → 量子任务</a:t>
            </a:r>
          </a:p>
        </p:txBody>
      </p:sp>
      <p:sp>
        <p:nvSpPr>
          <p:cNvPr id="13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1E4084FF-612C-4BED-9CA0-9BBA4286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91000"/>
            <a:ext cx="31432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构建确定性线路
在 CPU / Biren GPU 后端执行</a:t>
            </a:r>
          </a:p>
        </p:txBody>
      </p:sp>
      <p:sp>
        <p:nvSpPr>
          <p:cNvPr id="14" name="phase-title-3">
            <a:extLst xmlns:a="http://schemas.openxmlformats.org/drawingml/2006/main">
              <a:ext uri="{FF2B5EF4-FFF2-40B4-BE49-F238E27FC236}">
                <a16:creationId xmlns:a16="http://schemas.microsoft.com/office/drawing/2014/main" id="{87A91C19-4FA6-4F05-8069-8BBE4932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19500"/>
            <a:ext cx="3333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数值 → 可审计证据</a:t>
            </a:r>
          </a:p>
        </p:txBody>
      </p:sp>
      <p:sp>
        <p:nvSpPr>
          <p:cNvPr id="15" name="phase-body-3">
            <a:extLst xmlns:a="http://schemas.openxmlformats.org/drawingml/2006/main">
              <a:ext uri="{FF2B5EF4-FFF2-40B4-BE49-F238E27FC236}">
                <a16:creationId xmlns:a16="http://schemas.microsoft.com/office/drawing/2014/main" id="{A0D520A2-EBF4-4C81-9CE4-655796EF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91000"/>
            <a:ext cx="3333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解析公式 / 经典穷举 / 跨设备
生成误差、线路和复现报告</a:t>
            </a:r>
          </a:p>
        </p:txBody>
      </p:sp>
    </p:spTree>
    <p:extLst>
      <p:ext uri="{BB962C8B-B14F-4D97-AF65-F5344CB8AC3E}">
        <p14:creationId xmlns:p14="http://schemas.microsoft.com/office/powerpoint/2010/main" val="21227322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4">
            <a:extLst xmlns:a="http://schemas.openxmlformats.org/drawingml/2006/main">
              <a:ext uri="{FF2B5EF4-FFF2-40B4-BE49-F238E27FC236}">
                <a16:creationId xmlns:a16="http://schemas.microsoft.com/office/drawing/2014/main" id="{90DC1365-FB7D-40B9-ADF1-B81180FB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58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四类稳定任务，覆盖基础态、搜索与组合优化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54FE95B9-D6A4-4DCF-8C97-26A25CA5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04</a:t>
            </a:r>
          </a:p>
        </p:txBody>
      </p:sp>
      <p:sp>
        <p:nvSpPr>
          <p:cNvPr id="3" name="alg-1-title">
            <a:extLst xmlns:a="http://schemas.openxmlformats.org/drawingml/2006/main">
              <a:ext uri="{FF2B5EF4-FFF2-40B4-BE49-F238E27FC236}">
                <a16:creationId xmlns:a16="http://schemas.microsoft.com/office/drawing/2014/main" id="{6C103121-AB18-4B99-A94F-4506FE56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4762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Bell 纠缠态</a:t>
            </a:r>
          </a:p>
        </p:txBody>
      </p:sp>
      <p:sp>
        <p:nvSpPr>
          <p:cNvPr id="4" name="alg-1-body">
            <a:extLst xmlns:a="http://schemas.openxmlformats.org/drawingml/2006/main">
              <a:ext uri="{FF2B5EF4-FFF2-40B4-BE49-F238E27FC236}">
                <a16:creationId xmlns:a16="http://schemas.microsoft.com/office/drawing/2014/main" id="{BB10CB25-E81D-479D-9B39-BCA9BFE3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44767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2 比特解析概率验证
CPU / GPU 最终态对比</a:t>
            </a:r>
          </a:p>
        </p:txBody>
      </p:sp>
      <p:sp>
        <p:nvSpPr>
          <p:cNvPr id="5" name="alg-2-title">
            <a:extLst xmlns:a="http://schemas.openxmlformats.org/drawingml/2006/main">
              <a:ext uri="{FF2B5EF4-FFF2-40B4-BE49-F238E27FC236}">
                <a16:creationId xmlns:a16="http://schemas.microsoft.com/office/drawing/2014/main" id="{DEC0935D-B077-4336-AF4A-B4933C78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09750"/>
            <a:ext cx="4762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GHZ 多比特态</a:t>
            </a:r>
          </a:p>
        </p:txBody>
      </p:sp>
      <p:sp>
        <p:nvSpPr>
          <p:cNvPr id="6" name="alg-2-body">
            <a:extLst xmlns:a="http://schemas.openxmlformats.org/drawingml/2006/main">
              <a:ext uri="{FF2B5EF4-FFF2-40B4-BE49-F238E27FC236}">
                <a16:creationId xmlns:a16="http://schemas.microsoft.com/office/drawing/2014/main" id="{9DDC0D10-AB6C-4BA6-9A65-E1B8254F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4767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3–20 比特状态矢量模拟
概率归一化与解析态校验</a:t>
            </a:r>
          </a:p>
        </p:txBody>
      </p:sp>
      <p:sp>
        <p:nvSpPr>
          <p:cNvPr id="7" name="alg-3-title">
            <a:extLst xmlns:a="http://schemas.openxmlformats.org/drawingml/2006/main">
              <a:ext uri="{FF2B5EF4-FFF2-40B4-BE49-F238E27FC236}">
                <a16:creationId xmlns:a16="http://schemas.microsoft.com/office/drawing/2014/main" id="{DFAD9829-E456-45DC-8515-9BE879E8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4762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Grover 搜索</a:t>
            </a:r>
          </a:p>
        </p:txBody>
      </p:sp>
      <p:sp>
        <p:nvSpPr>
          <p:cNvPr id="8" name="alg-3-body">
            <a:extLst xmlns:a="http://schemas.openxmlformats.org/drawingml/2006/main">
              <a:ext uri="{FF2B5EF4-FFF2-40B4-BE49-F238E27FC236}">
                <a16:creationId xmlns:a16="http://schemas.microsoft.com/office/drawing/2014/main" id="{8E4B8627-14AD-4CFC-9692-8B6FB71D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0"/>
            <a:ext cx="46672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目标态与位序归一化
理论迭代次数与成功概率比较</a:t>
            </a:r>
          </a:p>
        </p:txBody>
      </p:sp>
      <p:sp>
        <p:nvSpPr>
          <p:cNvPr id="9" name="alg-4-title">
            <a:extLst xmlns:a="http://schemas.openxmlformats.org/drawingml/2006/main">
              <a:ext uri="{FF2B5EF4-FFF2-40B4-BE49-F238E27FC236}">
                <a16:creationId xmlns:a16="http://schemas.microsoft.com/office/drawing/2014/main" id="{44512937-0B2C-4AC2-A889-B87B7088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00500"/>
            <a:ext cx="4762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QAOA MaxCut</a:t>
            </a:r>
          </a:p>
        </p:txBody>
      </p:sp>
      <p:sp>
        <p:nvSpPr>
          <p:cNvPr id="10" name="alg-4-body">
            <a:extLst xmlns:a="http://schemas.openxmlformats.org/drawingml/2006/main">
              <a:ext uri="{FF2B5EF4-FFF2-40B4-BE49-F238E27FC236}">
                <a16:creationId xmlns:a16="http://schemas.microsoft.com/office/drawing/2014/main" id="{5D024694-0F30-4E00-AD38-412AFF90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72000"/>
            <a:ext cx="4762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Biren GPU 变分优化
经典穷举最优值与近似比验证</a:t>
            </a:r>
          </a:p>
        </p:txBody>
      </p:sp>
      <p:sp>
        <p:nvSpPr>
          <p:cNvPr id="11" name="alg-rule-v">
            <a:extLst xmlns:a="http://schemas.openxmlformats.org/drawingml/2006/main">
              <a:ext uri="{FF2B5EF4-FFF2-40B4-BE49-F238E27FC236}">
                <a16:creationId xmlns:a16="http://schemas.microsoft.com/office/drawing/2014/main" id="{B1CF9067-7A68-44FF-9F10-9ED4CFD2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676400"/>
            <a:ext cx="9525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6CE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4" name="alg-rule-h"/>
          <p:cNvCxnSpPr/>
          <p:nvPr/>
        </p:nvCxnSpPr>
        <p:spPr>
          <a:xfrm xmlns:a="http://schemas.openxmlformats.org/drawingml/2006/main">
            <a:off x="514350" y="3524250"/>
            <a:ext cx="106680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9C6CE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42237912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5">
            <a:extLst xmlns:a="http://schemas.openxmlformats.org/drawingml/2006/main">
              <a:ext uri="{FF2B5EF4-FFF2-40B4-BE49-F238E27FC236}">
                <a16:creationId xmlns:a16="http://schemas.microsoft.com/office/drawing/2014/main" id="{53FA7E3A-876C-4D63-8439-68CC8DFB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58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四类算法全部通过独立正确性验收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985C1DB4-776E-4581-B58E-C27DCC6B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05</a:t>
            </a:r>
          </a:p>
        </p:txBody>
      </p:sp>
      <p:sp>
        <p:nvSpPr>
          <p:cNvPr id="3" name="validation-context">
            <a:extLst xmlns:a="http://schemas.openxmlformats.org/drawingml/2006/main">
              <a:ext uri="{FF2B5EF4-FFF2-40B4-BE49-F238E27FC236}">
                <a16:creationId xmlns:a16="http://schemas.microsoft.com/office/drawing/2014/main" id="{549F4894-F953-49EC-BD4A-18CB0F2C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11049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2026-07-27 在赛事 Biren106M 节点完整执行；PASS 由数值验证字段决定，而非说明文字。</a:t>
            </a:r>
          </a:p>
        </p:txBody>
      </p:sp>
      <p:sp>
        <p:nvSpPr>
          <p:cNvPr id="4" name="metric-panel-1">
            <a:extLst xmlns:a="http://schemas.openxmlformats.org/drawingml/2006/main">
              <a:ext uri="{FF2B5EF4-FFF2-40B4-BE49-F238E27FC236}">
                <a16:creationId xmlns:a16="http://schemas.microsoft.com/office/drawing/2014/main" id="{B7B57CD3-58D1-40B7-83F4-A0F03DA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35623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etric-panel-2">
            <a:extLst xmlns:a="http://schemas.openxmlformats.org/drawingml/2006/main">
              <a:ext uri="{FF2B5EF4-FFF2-40B4-BE49-F238E27FC236}">
                <a16:creationId xmlns:a16="http://schemas.microsoft.com/office/drawing/2014/main" id="{8A392305-4FC9-47E4-B368-35A490F3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35623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panel-3">
            <a:extLst xmlns:a="http://schemas.openxmlformats.org/drawingml/2006/main">
              <a:ext uri="{FF2B5EF4-FFF2-40B4-BE49-F238E27FC236}">
                <a16:creationId xmlns:a16="http://schemas.microsoft.com/office/drawing/2014/main" id="{E9A31869-1003-4376-AC9E-08EFB05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5623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5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1">
            <a:extLst xmlns:a="http://schemas.openxmlformats.org/drawingml/2006/main">
              <a:ext uri="{FF2B5EF4-FFF2-40B4-BE49-F238E27FC236}">
                <a16:creationId xmlns:a16="http://schemas.microsoft.com/office/drawing/2014/main" id="{9C173D4D-F61C-4992-8865-815235E5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28575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4 / 4</a:t>
            </a:r>
          </a:p>
        </p:txBody>
      </p:sp>
      <p:sp>
        <p:nvSpPr>
          <p:cNvPr id="8" name="metric-1-body">
            <a:extLst xmlns:a="http://schemas.openxmlformats.org/drawingml/2006/main">
              <a:ext uri="{FF2B5EF4-FFF2-40B4-BE49-F238E27FC236}">
                <a16:creationId xmlns:a16="http://schemas.microsoft.com/office/drawing/2014/main" id="{207AA173-FFBB-43D6-83F2-F9E1378A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2857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Bell · GHZ · Grover · QAOA
正确性套件全部 PASS</a:t>
            </a:r>
          </a:p>
        </p:txBody>
      </p:sp>
      <p:sp>
        <p:nvSpPr>
          <p:cNvPr id="9" name="metric-2">
            <a:extLst xmlns:a="http://schemas.openxmlformats.org/drawingml/2006/main">
              <a:ext uri="{FF2B5EF4-FFF2-40B4-BE49-F238E27FC236}">
                <a16:creationId xmlns:a16="http://schemas.microsoft.com/office/drawing/2014/main" id="{331ED0CD-0C53-4150-ABF2-963A0EA3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90875"/>
            <a:ext cx="28575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</a:t>
            </a:r>
          </a:p>
        </p:txBody>
      </p:sp>
      <p:sp>
        <p:nvSpPr>
          <p:cNvPr id="10" name="metric-2-body">
            <a:extLst xmlns:a="http://schemas.openxmlformats.org/drawingml/2006/main">
              <a:ext uri="{FF2B5EF4-FFF2-40B4-BE49-F238E27FC236}">
                <a16:creationId xmlns:a16="http://schemas.microsoft.com/office/drawing/2014/main" id="{088D849B-CFDF-48F1-A4A3-6DF94106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76750"/>
            <a:ext cx="2857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Bell / GHZ / Grover
CPU 与 GPU 关键结果差异</a:t>
            </a:r>
          </a:p>
        </p:txBody>
      </p:sp>
      <p:sp>
        <p:nvSpPr>
          <p:cNvPr id="11" name="metric-3">
            <a:extLst xmlns:a="http://schemas.openxmlformats.org/drawingml/2006/main">
              <a:ext uri="{FF2B5EF4-FFF2-40B4-BE49-F238E27FC236}">
                <a16:creationId xmlns:a16="http://schemas.microsoft.com/office/drawing/2014/main" id="{E3C136FE-8DAD-4A8E-847F-3D6E8C37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90875"/>
            <a:ext cx="28575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87C9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1.000</a:t>
            </a:r>
          </a:p>
        </p:txBody>
      </p:sp>
      <p:sp>
        <p:nvSpPr>
          <p:cNvPr id="12" name="metric-3-body">
            <a:extLst xmlns:a="http://schemas.openxmlformats.org/drawingml/2006/main">
              <a:ext uri="{FF2B5EF4-FFF2-40B4-BE49-F238E27FC236}">
                <a16:creationId xmlns:a16="http://schemas.microsoft.com/office/drawing/2014/main" id="{78DC254B-A0A8-458D-9A08-3D21DB02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76750"/>
            <a:ext cx="2857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QAOA 解 0101，割值 4
与经典精确最优值一致</a:t>
            </a:r>
          </a:p>
        </p:txBody>
      </p:sp>
      <p:sp>
        <p:nvSpPr>
          <p:cNvPr id="13" name="validation-source">
            <a:extLst xmlns:a="http://schemas.openxmlformats.org/drawingml/2006/main">
              <a:ext uri="{FF2B5EF4-FFF2-40B4-BE49-F238E27FC236}">
                <a16:creationId xmlns:a16="http://schemas.microsoft.com/office/drawing/2014/main" id="{F2C20395-E243-469B-8C68-763803FE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6667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来源：reports/generated/correctness_results.json</a:t>
            </a:r>
          </a:p>
        </p:txBody>
      </p:sp>
    </p:spTree>
    <p:extLst>
      <p:ext uri="{BB962C8B-B14F-4D97-AF65-F5344CB8AC3E}">
        <p14:creationId xmlns:p14="http://schemas.microsoft.com/office/powerpoint/2010/main" val="154235824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6">
            <a:extLst xmlns:a="http://schemas.openxmlformats.org/drawingml/2006/main">
              <a:ext uri="{FF2B5EF4-FFF2-40B4-BE49-F238E27FC236}">
                <a16:creationId xmlns:a16="http://schemas.microsoft.com/office/drawing/2014/main" id="{E2051C85-81B4-450A-9F1D-FF3C6645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58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QAOA 输出不是一个比特串，而是一条证据链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DC7BB938-FC4F-444E-A101-165D0704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06</a:t>
            </a:r>
          </a:p>
        </p:txBody>
      </p:sp>
      <p:sp>
        <p:nvSpPr>
          <p:cNvPr id="3" name="cut-frame">
            <a:extLst xmlns:a="http://schemas.openxmlformats.org/drawingml/2006/main">
              <a:ext uri="{FF2B5EF4-FFF2-40B4-BE49-F238E27FC236}">
                <a16:creationId xmlns:a16="http://schemas.microsoft.com/office/drawing/2014/main" id="{D63A3C1C-8A09-44EE-9092-E65F4595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5429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6CE"/>
            </a:solidFill>
            <a:prstDash val="solid"/>
          </a:ln>
        </p:spPr>
      </p:sp>
      <p:sp>
        <p:nvSpPr>
          <p:cNvPr id="4" name="conv-frame">
            <a:extLst xmlns:a="http://schemas.openxmlformats.org/drawingml/2006/main">
              <a:ext uri="{FF2B5EF4-FFF2-40B4-BE49-F238E27FC236}">
                <a16:creationId xmlns:a16="http://schemas.microsoft.com/office/drawing/2014/main" id="{74987665-1D26-425A-8518-11E67B9B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5600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6CE"/>
            </a:solidFill>
            <a:prstDash val="solid"/>
          </a:ln>
        </p:spPr>
      </p:sp>
      <p:sp>
        <p:nvSpPr>
          <p:cNvPr id="5" name="cut-label">
            <a:extLst xmlns:a="http://schemas.openxmlformats.org/drawingml/2006/main">
              <a:ext uri="{FF2B5EF4-FFF2-40B4-BE49-F238E27FC236}">
                <a16:creationId xmlns:a16="http://schemas.microsoft.com/office/drawing/2014/main" id="{CA1C545C-971F-42FC-8E58-C60BA2F5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975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最优割结构</a:t>
            </a:r>
          </a:p>
        </p:txBody>
      </p:sp>
      <p:sp>
        <p:nvSpPr>
          <p:cNvPr id="6" name="cut-detail">
            <a:extLst xmlns:a="http://schemas.openxmlformats.org/drawingml/2006/main">
              <a:ext uri="{FF2B5EF4-FFF2-40B4-BE49-F238E27FC236}">
                <a16:creationId xmlns:a16="http://schemas.microsoft.com/office/drawing/2014/main" id="{2E12B95F-D614-46B7-9CFA-082CE635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4360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解 0101 · 割值 4</a:t>
            </a:r>
          </a:p>
        </p:txBody>
      </p:sp>
      <p:sp>
        <p:nvSpPr>
          <p:cNvPr id="7" name="conv-label">
            <a:extLst xmlns:a="http://schemas.openxmlformats.org/drawingml/2006/main">
              <a:ext uri="{FF2B5EF4-FFF2-40B4-BE49-F238E27FC236}">
                <a16:creationId xmlns:a16="http://schemas.microsoft.com/office/drawing/2014/main" id="{AF9CDBCE-AD65-49D6-89B7-7E9B6353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97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变分优化收敛</a:t>
            </a:r>
          </a:p>
        </p:txBody>
      </p:sp>
      <p:sp>
        <p:nvSpPr>
          <p:cNvPr id="8" name="conv-detail">
            <a:extLst xmlns:a="http://schemas.openxmlformats.org/drawingml/2006/main">
              <a:ext uri="{FF2B5EF4-FFF2-40B4-BE49-F238E27FC236}">
                <a16:creationId xmlns:a16="http://schemas.microsoft.com/office/drawing/2014/main" id="{8E0E990B-FDDB-401A-998A-454559E0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9436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2 层 · 30 轮预算 · Biren GPU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1ce0de4f440f9"/>
          <a:stretch xmlns:a="http://schemas.openxmlformats.org/drawingml/2006/main"/>
        </p:blipFill>
        <p:spPr>
          <a:xfrm xmlns:a="http://schemas.openxmlformats.org/drawingml/2006/main">
            <a:off x="765175" y="1657350"/>
            <a:ext cx="4699000" cy="352425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4ee3f085a41f4"/>
          <a:stretch xmlns:a="http://schemas.openxmlformats.org/drawingml/2006/main"/>
        </p:blipFill>
        <p:spPr>
          <a:xfrm xmlns:a="http://schemas.openxmlformats.org/drawingml/2006/main">
            <a:off x="6457950" y="1730375"/>
            <a:ext cx="5067300" cy="3378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8388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7">
            <a:extLst xmlns:a="http://schemas.openxmlformats.org/drawingml/2006/main">
              <a:ext uri="{FF2B5EF4-FFF2-40B4-BE49-F238E27FC236}">
                <a16:creationId xmlns:a16="http://schemas.microsoft.com/office/drawing/2014/main" id="{221C3803-615A-4286-A19E-D6ED93B2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858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浅线路下 GPU 启动开销主导，报告如实保留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E8BB2873-0459-4565-A561-C0340C8E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07</a:t>
            </a:r>
          </a:p>
        </p:txBody>
      </p:sp>
      <p:sp>
        <p:nvSpPr>
          <p:cNvPr id="3" name="chart-frame">
            <a:extLst xmlns:a="http://schemas.openxmlformats.org/drawingml/2006/main">
              <a:ext uri="{FF2B5EF4-FFF2-40B4-BE49-F238E27FC236}">
                <a16:creationId xmlns:a16="http://schemas.microsoft.com/office/drawing/2014/main" id="{1F43888A-A278-423F-840E-C7377E4A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6191250" cy="4857750"/>
          </a:xfrm>
          <a:prstGeom xmlns:a="http://schemas.openxmlformats.org/drawingml/2006/main" prst="roundRect">
            <a:avLst>
              <a:gd name="adj" fmla="val 15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1018"/>
            </a:solidFill>
            <a:prstDash val="solid"/>
          </a:ln>
        </p:spPr>
      </p:sp>
      <p:sp>
        <p:nvSpPr>
          <p:cNvPr id="4" name="perf-label">
            <a:extLst xmlns:a="http://schemas.openxmlformats.org/drawingml/2006/main">
              <a:ext uri="{FF2B5EF4-FFF2-40B4-BE49-F238E27FC236}">
                <a16:creationId xmlns:a16="http://schemas.microsoft.com/office/drawing/2014/main" id="{0BC4743F-7766-454A-8329-69D985E2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600200"/>
            <a:ext cx="1524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结论</a:t>
            </a:r>
          </a:p>
        </p:txBody>
      </p:sp>
      <p:sp>
        <p:nvSpPr>
          <p:cNvPr id="5" name="perf-copy">
            <a:extLst xmlns:a="http://schemas.openxmlformats.org/drawingml/2006/main">
              <a:ext uri="{FF2B5EF4-FFF2-40B4-BE49-F238E27FC236}">
                <a16:creationId xmlns:a16="http://schemas.microsoft.com/office/drawing/2014/main" id="{3A7CA835-1BEF-4DA6-91AE-8F3E3AF1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90750"/>
            <a:ext cx="438150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4–20 比特 GHZ 线路计算量很小，CPU 中位耗时低于 GPU。这个结果说明：性能结论必须绑定线路深度、状态规模和批量方式。</a:t>
            </a:r>
          </a:p>
        </p:txBody>
      </p:sp>
      <p:sp>
        <p:nvSpPr>
          <p:cNvPr id="6" name="perf-stat-1">
            <a:extLst xmlns:a="http://schemas.openxmlformats.org/drawingml/2006/main">
              <a:ext uri="{FF2B5EF4-FFF2-40B4-BE49-F238E27FC236}">
                <a16:creationId xmlns:a16="http://schemas.microsoft.com/office/drawing/2014/main" id="{77A390B9-BB38-4FBD-865F-B4042DF5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267200"/>
            <a:ext cx="2095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081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0.056–0.112×</a:t>
            </a:r>
          </a:p>
        </p:txBody>
      </p:sp>
      <p:sp>
        <p:nvSpPr>
          <p:cNvPr id="7" name="perf-stat-1-label">
            <a:extLst xmlns:a="http://schemas.openxmlformats.org/drawingml/2006/main">
              <a:ext uri="{FF2B5EF4-FFF2-40B4-BE49-F238E27FC236}">
                <a16:creationId xmlns:a16="http://schemas.microsoft.com/office/drawing/2014/main" id="{5F5CC3DD-9BDF-487F-A1EB-CC8A1256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76800"/>
            <a:ext cx="2095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当前 GPU / CPU 加速比</a:t>
            </a:r>
          </a:p>
        </p:txBody>
      </p:sp>
      <p:sp>
        <p:nvSpPr>
          <p:cNvPr id="8" name="perf-stat-2">
            <a:extLst xmlns:a="http://schemas.openxmlformats.org/drawingml/2006/main">
              <a:ext uri="{FF2B5EF4-FFF2-40B4-BE49-F238E27FC236}">
                <a16:creationId xmlns:a16="http://schemas.microsoft.com/office/drawing/2014/main" id="{0F48814B-A14F-4B56-B7EB-9A8B0A7A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67200"/>
            <a:ext cx="2095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7C9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2.98e-08</a:t>
            </a:r>
          </a:p>
        </p:txBody>
      </p:sp>
      <p:sp>
        <p:nvSpPr>
          <p:cNvPr id="9" name="perf-stat-2-label">
            <a:extLst xmlns:a="http://schemas.openxmlformats.org/drawingml/2006/main">
              <a:ext uri="{FF2B5EF4-FFF2-40B4-BE49-F238E27FC236}">
                <a16:creationId xmlns:a16="http://schemas.microsoft.com/office/drawing/2014/main" id="{C7561FD1-E6A6-4CD2-A1A3-DB129411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76800"/>
            <a:ext cx="2095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GPU 最大概率误差</a:t>
            </a:r>
          </a:p>
        </p:txBody>
      </p:sp>
      <p:sp>
        <p:nvSpPr>
          <p:cNvPr id="10" name="perf-source">
            <a:extLst xmlns:a="http://schemas.openxmlformats.org/drawingml/2006/main">
              <a:ext uri="{FF2B5EF4-FFF2-40B4-BE49-F238E27FC236}">
                <a16:creationId xmlns:a16="http://schemas.microsoft.com/office/drawing/2014/main" id="{A39B610F-AE1E-456D-B06F-2390F93A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53100"/>
            <a:ext cx="4286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来源：3 次重复的中位耗时；benchmark.csv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1638300"/>
          <a:ext xmlns:a="http://schemas.openxmlformats.org/drawingml/2006/main" cx="5619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a023cb79d34141"/>
          </a:graphicData>
        </a:graphic>
      </p:graphicFrame>
    </p:spTree>
    <p:extLst>
      <p:ext uri="{BB962C8B-B14F-4D97-AF65-F5344CB8AC3E}">
        <p14:creationId xmlns:p14="http://schemas.microsoft.com/office/powerpoint/2010/main" val="20149440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434FD823-FCDB-4214-85E2-7F2A33DB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C99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QUANTAFORGE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DA5B657-E906-4660-BF89-74C9FE80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906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71018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把量子演示升级为
可复现的实验交付</a:t>
            </a:r>
          </a:p>
        </p:txBody>
      </p:sp>
      <p:sp>
        <p:nvSpPr>
          <p:cNvPr id="3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08234902-2C9C-47C5-9F90-2C205852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76800"/>
            <a:ext cx="10668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0616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t>一句话提出任务  ·  真实 GPU 执行  ·  独立数值验证  ·  全链路证据归档</a:t>
            </a:r>
          </a:p>
        </p:txBody>
      </p:sp>
      <p:cxnSp>
        <p:nvCxnSpPr>
          <p:cNvPr id="8" name="close-accent"/>
          <p:cNvCxnSpPr/>
          <p:nvPr/>
        </p:nvCxnSpPr>
        <p:spPr>
          <a:xfrm xmlns:a="http://schemas.openxmlformats.org/drawingml/2006/main">
            <a:off x="419100" y="5772150"/>
            <a:ext cx="3048000" cy="9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1DAED1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9260884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2026-07-27T05:58:34.5290000Z</dcterms:created>
  <dcterms:modified xsi:type="dcterms:W3CDTF">2026-07-27T05:58:34.5290000Z</dcterms:modified>
</coreProperties>
</file>