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3faaf161a4a88" /><Relationship Type="http://schemas.openxmlformats.org/officeDocument/2006/relationships/extended-properties" Target="/docProps/app.xml" Id="R5d3441f26bc343ee" /><Relationship Type="http://schemas.openxmlformats.org/officeDocument/2006/relationships/officeDocument" Target="/ppt/presentation.xml" Id="R5e292c5e951e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986d990b04994"/>
  </p:sldMasterIdLst>
  <p:notesMasterIdLst>
    <p:notesMasterId xmlns:r="http://schemas.openxmlformats.org/officeDocument/2006/relationships" r:id="R38ed9441520848b8"/>
  </p:notesMasterIdLst>
  <p:sldIdLst>
    <p:sldId xmlns:r="http://schemas.openxmlformats.org/officeDocument/2006/relationships" id="256" r:id="Rf5e83c660bdd430b"/>
    <p:sldId xmlns:r="http://schemas.openxmlformats.org/officeDocument/2006/relationships" id="257" r:id="Rfd8acff4461a4907"/>
    <p:sldId xmlns:r="http://schemas.openxmlformats.org/officeDocument/2006/relationships" id="258" r:id="R15bd4c4baaa14349"/>
    <p:sldId xmlns:r="http://schemas.openxmlformats.org/officeDocument/2006/relationships" id="259" r:id="R5cb70fab46134f9b"/>
    <p:sldId xmlns:r="http://schemas.openxmlformats.org/officeDocument/2006/relationships" id="260" r:id="R4ed31e8c0c98404f"/>
    <p:sldId xmlns:r="http://schemas.openxmlformats.org/officeDocument/2006/relationships" id="261" r:id="R9c467e1a7d0143c5"/>
    <p:sldId xmlns:r="http://schemas.openxmlformats.org/officeDocument/2006/relationships" id="262" r:id="R728a6c1055ff402f"/>
    <p:sldId xmlns:r="http://schemas.openxmlformats.org/officeDocument/2006/relationships" id="263" r:id="Rab223ca98d6b47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46f037106d4a34" /><Relationship Type="http://schemas.openxmlformats.org/officeDocument/2006/relationships/slideMaster" Target="/ppt/slideMasters/slideMaster1.xml" Id="Rc87986d990b04994" /><Relationship Type="http://schemas.openxmlformats.org/officeDocument/2006/relationships/notesMaster" Target="/ppt/notesMasters/notesMaster1.xml" Id="R38ed9441520848b8" /><Relationship Type="http://schemas.openxmlformats.org/officeDocument/2006/relationships/presProps" Target="/ppt/presProps.xml" Id="Re7c262221ae642d6" /><Relationship Type="http://schemas.openxmlformats.org/officeDocument/2006/relationships/tableStyles" Target="/ppt/tableStyles.xml" Id="Rde29b48f753248b6" /><Relationship Type="http://schemas.openxmlformats.org/officeDocument/2006/relationships/slide" Target="/ppt/slides/slide1.xml" Id="Rf5e83c660bdd430b" /><Relationship Type="http://schemas.openxmlformats.org/officeDocument/2006/relationships/slide" Target="/ppt/slides/slide2.xml" Id="Rfd8acff4461a4907" /><Relationship Type="http://schemas.openxmlformats.org/officeDocument/2006/relationships/slide" Target="/ppt/slides/slide3.xml" Id="R15bd4c4baaa14349" /><Relationship Type="http://schemas.openxmlformats.org/officeDocument/2006/relationships/slide" Target="/ppt/slides/slide4.xml" Id="R5cb70fab46134f9b" /><Relationship Type="http://schemas.openxmlformats.org/officeDocument/2006/relationships/slide" Target="/ppt/slides/slide5.xml" Id="R4ed31e8c0c98404f" /><Relationship Type="http://schemas.openxmlformats.org/officeDocument/2006/relationships/slide" Target="/ppt/slides/slide6.xml" Id="R9c467e1a7d0143c5" /><Relationship Type="http://schemas.openxmlformats.org/officeDocument/2006/relationships/slide" Target="/ppt/slides/slide7.xml" Id="R728a6c1055ff402f" /><Relationship Type="http://schemas.openxmlformats.org/officeDocument/2006/relationships/slide" Target="/ppt/slides/slide8.xml" Id="Rab223ca98d6b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c0d68be9b2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cf6e422234e60" /><Relationship Type="http://schemas.openxmlformats.org/officeDocument/2006/relationships/notesMaster" Target="/ppt/notesMasters/notesMaster1.xml" Id="R3dabacaf48704c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2c2c3e3b0149bf" /><Relationship Type="http://schemas.openxmlformats.org/officeDocument/2006/relationships/notesMaster" Target="/ppt/notesMasters/notesMaster1.xml" Id="Redb2fb2de2074a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5b6dd9e7dd46bb" /><Relationship Type="http://schemas.openxmlformats.org/officeDocument/2006/relationships/notesMaster" Target="/ppt/notesMasters/notesMaster1.xml" Id="R12555728723c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f9d3e178441b4" /><Relationship Type="http://schemas.openxmlformats.org/officeDocument/2006/relationships/notesMaster" Target="/ppt/notesMasters/notesMaster1.xml" Id="R5680d4bbec2d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fd3dea194431c" /><Relationship Type="http://schemas.openxmlformats.org/officeDocument/2006/relationships/notesMaster" Target="/ppt/notesMasters/notesMaster1.xml" Id="Rfc3191369875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9acb6cbdb94858" /><Relationship Type="http://schemas.openxmlformats.org/officeDocument/2006/relationships/notesMaster" Target="/ppt/notesMasters/notesMaster1.xml" Id="R2d7e1430799a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ecaed44cd4fc3" /><Relationship Type="http://schemas.openxmlformats.org/officeDocument/2006/relationships/notesMaster" Target="/ppt/notesMasters/notesMaster1.xml" Id="R11bf1f216869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a2c6658de94915" /><Relationship Type="http://schemas.openxmlformats.org/officeDocument/2006/relationships/notesMaster" Target="/ppt/notesMasters/notesMaster1.xml" Id="R05bb7b6bf81b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d8343e85f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b07497a094dcc" /><Relationship Type="http://schemas.openxmlformats.org/officeDocument/2006/relationships/slideLayout" Target="/ppt/slideLayouts/slideLayout1.xml" Id="R586ae3dd8fef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ae3dd8fef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873d2a7fd4d41" /><Relationship Type="http://schemas.openxmlformats.org/officeDocument/2006/relationships/image" Target="/ppt/media/image.png" Id="Ra5ac6402d9c441ac" /><Relationship Type="http://schemas.openxmlformats.org/officeDocument/2006/relationships/notesSlide" Target="/ppt/notesSlides/notesSlide1.xml" Id="R190fd1db3cc5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5599e67204bcc" /><Relationship Type="http://schemas.openxmlformats.org/officeDocument/2006/relationships/notesSlide" Target="/ppt/notesSlides/notesSlide2.xml" Id="Re4620a28b25443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fc7ffedd346a2" /><Relationship Type="http://schemas.openxmlformats.org/officeDocument/2006/relationships/notesSlide" Target="/ppt/notesSlides/notesSlide3.xml" Id="R914d3bbe3324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f95b5f4964c04" /><Relationship Type="http://schemas.openxmlformats.org/officeDocument/2006/relationships/notesSlide" Target="/ppt/notesSlides/notesSlide4.xml" Id="R3bdd3ea20295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94c0475924d56" /><Relationship Type="http://schemas.openxmlformats.org/officeDocument/2006/relationships/notesSlide" Target="/ppt/notesSlides/notesSlide5.xml" Id="R5e62a8f621f948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4c733b014a56" /><Relationship Type="http://schemas.openxmlformats.org/officeDocument/2006/relationships/image" Target="/ppt/media/image2.png" Id="R7ea7042cb01e4bae" /><Relationship Type="http://schemas.openxmlformats.org/officeDocument/2006/relationships/image" Target="/ppt/media/image3.png" Id="Re380b45eab344e37" /><Relationship Type="http://schemas.openxmlformats.org/officeDocument/2006/relationships/notesSlide" Target="/ppt/notesSlides/notesSlide6.xml" Id="R296e39afd1624b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666372c2b43c0" /><Relationship Type="http://schemas.openxmlformats.org/officeDocument/2006/relationships/chart" Target="/ppt/slides/charts/chart1.xml" Id="Rb97aade2e00c443c" /><Relationship Type="http://schemas.openxmlformats.org/officeDocument/2006/relationships/notesSlide" Target="/ppt/notesSlides/notesSlide7.xml" Id="Rbe0ff3ffb3c6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3c08abdcc4924" /><Relationship Type="http://schemas.openxmlformats.org/officeDocument/2006/relationships/notesSlide" Target="/ppt/notesSlides/notesSlide8.xml" Id="R6fce0a07685e49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CPU (ms)</c:v>
          </c:tx>
          <c:spPr>
            <a:solidFill xmlns:a="http://schemas.openxmlformats.org/drawingml/2006/main">
              <a:srgbClr val="78D4E8"/>
            </a:solidFill>
          </c:spPr>
          <c:cat>
            <c:numLit>
              <c:formatCode>General</c:formatCode>
              <c:ptCount val="4"/>
              <c:pt idx="0">
                <c:v>22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</c:numLit>
          </c:cat>
          <c:val>
            <c:numLit>
              <c:formatCode>General</c:formatCode>
              <c:ptCount val="4"/>
              <c:pt idx="0">
                <c:v>70.292</c:v>
              </c:pt>
              <c:pt idx="1">
                <c:v>896.814</c:v>
              </c:pt>
              <c:pt idx="2">
                <c:v>1595.06</c:v>
              </c:pt>
              <c:pt idx="3">
                <c:v>2906.168</c:v>
              </c:pt>
            </c:numLit>
          </c:val>
        </c:ser>
        <c:ser>
          <c:idx val="1"/>
          <c:order val="1"/>
          <c:tx>
            <c:v>Biren GPU (ms)</c:v>
          </c:tx>
          <c:spPr>
            <a:solidFill xmlns:a="http://schemas.openxmlformats.org/drawingml/2006/main">
              <a:srgbClr val="087C99"/>
            </a:solidFill>
          </c:spPr>
          <c:cat>
            <c:numLit>
              <c:formatCode>General</c:formatCode>
              <c:ptCount val="4"/>
              <c:pt idx="0">
                <c:v>22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</c:numLit>
          </c:cat>
          <c:val>
            <c:numLit>
              <c:formatCode>General</c:formatCode>
              <c:ptCount val="4"/>
              <c:pt idx="0">
                <c:v>183.311</c:v>
              </c:pt>
              <c:pt idx="1">
                <c:v>1485.407</c:v>
              </c:pt>
              <c:pt idx="2">
                <c:v>3340.921</c:v>
              </c:pt>
              <c:pt idx="3">
                <c:v>7519.024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6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</a:p>
        </c:txPr>
        <c:crossAx val="48650112"/>
        <c:crossBetween val="between"/>
        <c:majorUnit val="2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252AD8A-B8A0-4599-A4D8-C06F02BD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"/>
            <a:ext cx="5619750" cy="594360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9525">
            <a:solidFill>
              <a:srgbClr val="B9C6CE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E3DC309-560B-41E2-B8E4-D364D78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QUANTAFORGE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71BFD4-6C4F-4EC1-8982-A34F51B7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381625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一句自然语言，
交付一份可验证的
量子实验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CB8604-A130-44E9-BA7A-1049DE1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577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可验证量子实验智能体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71469C73-1FDB-4420-9D4C-99C66E96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91125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UnitaryLab × Biren106M  ·  赛道四 / 赛题一</a:t>
            </a:r>
          </a:p>
        </p:txBody>
      </p:sp>
      <p:sp>
        <p:nvSpPr>
          <p:cNvPr id="6" name="cover-image-label">
            <a:extLst xmlns:a="http://schemas.openxmlformats.org/drawingml/2006/main">
              <a:ext uri="{FF2B5EF4-FFF2-40B4-BE49-F238E27FC236}">
                <a16:creationId xmlns:a16="http://schemas.microsoft.com/office/drawing/2014/main" id="{99EF7368-FE8A-4ADA-8C52-35693510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055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真实 QAOA 线路产物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c6402d9c441ac"/>
          <a:stretch xmlns:a="http://schemas.openxmlformats.org/drawingml/2006/main"/>
        </p:blipFill>
        <p:spPr>
          <a:xfrm xmlns:a="http://schemas.openxmlformats.org/drawingml/2006/main">
            <a:off x="6477000" y="2237280"/>
            <a:ext cx="5048250" cy="18881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070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9FA2A463-82D8-43BB-A81A-175FF8FB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真正的门槛，是证明量子结果可信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334D1BB-0810-4E66-9A68-C26C6137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02</a:t>
            </a:r>
          </a:p>
        </p:txBody>
      </p:sp>
      <p:sp>
        <p:nvSpPr>
          <p:cNvPr id="3" name="problem-context">
            <a:extLst xmlns:a="http://schemas.openxmlformats.org/drawingml/2006/main">
              <a:ext uri="{FF2B5EF4-FFF2-40B4-BE49-F238E27FC236}">
                <a16:creationId xmlns:a16="http://schemas.microsoft.com/office/drawing/2014/main" id="{DF19522E-41B5-4A1B-B801-E2B5F4F6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许多量子演示止步于“线路能运行”。科研与教学真正需要的是：输入可解释、设备可证明、结论可核验、过程可复现。</a:t>
            </a:r>
          </a:p>
        </p:txBody>
      </p:sp>
      <p:sp>
        <p:nvSpPr>
          <p:cNvPr id="4" name="typical-panel">
            <a:extLst xmlns:a="http://schemas.openxmlformats.org/drawingml/2006/main">
              <a:ext uri="{FF2B5EF4-FFF2-40B4-BE49-F238E27FC236}">
                <a16:creationId xmlns:a16="http://schemas.microsoft.com/office/drawing/2014/main" id="{7DF4CBCB-64F3-45C2-9A83-BCEE2AD6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476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f-panel">
            <a:extLst xmlns:a="http://schemas.openxmlformats.org/drawingml/2006/main">
              <a:ext uri="{FF2B5EF4-FFF2-40B4-BE49-F238E27FC236}">
                <a16:creationId xmlns:a16="http://schemas.microsoft.com/office/drawing/2014/main" id="{C7026C75-7459-4A49-A82F-E6FD1435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5626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ypical-title">
            <a:extLst xmlns:a="http://schemas.openxmlformats.org/drawingml/2006/main">
              <a:ext uri="{FF2B5EF4-FFF2-40B4-BE49-F238E27FC236}">
                <a16:creationId xmlns:a16="http://schemas.microsoft.com/office/drawing/2014/main" id="{98A50CC3-8D3F-4A97-A0A4-7F290E61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常见演示</a:t>
            </a:r>
          </a:p>
        </p:txBody>
      </p:sp>
      <p:sp>
        <p:nvSpPr>
          <p:cNvPr id="7" name="typical-body">
            <a:extLst xmlns:a="http://schemas.openxmlformats.org/drawingml/2006/main">
              <a:ext uri="{FF2B5EF4-FFF2-40B4-BE49-F238E27FC236}">
                <a16:creationId xmlns:a16="http://schemas.microsoft.com/office/drawing/2014/main" id="{8A9487EF-C186-4C37-8904-2FCD7CFA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4667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生成代码或展示概率图
结果正确性依赖人工判断</a:t>
            </a:r>
          </a:p>
        </p:txBody>
      </p:sp>
      <p:sp>
        <p:nvSpPr>
          <p:cNvPr id="8" name="qf-title">
            <a:extLst xmlns:a="http://schemas.openxmlformats.org/drawingml/2006/main">
              <a:ext uri="{FF2B5EF4-FFF2-40B4-BE49-F238E27FC236}">
                <a16:creationId xmlns:a16="http://schemas.microsoft.com/office/drawing/2014/main" id="{FE88CA38-F525-41ED-82E5-EE69516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QuantaForge</a:t>
            </a:r>
          </a:p>
        </p:txBody>
      </p:sp>
      <p:sp>
        <p:nvSpPr>
          <p:cNvPr id="9" name="qf-body">
            <a:extLst xmlns:a="http://schemas.openxmlformats.org/drawingml/2006/main">
              <a:ext uri="{FF2B5EF4-FFF2-40B4-BE49-F238E27FC236}">
                <a16:creationId xmlns:a16="http://schemas.microsoft.com/office/drawing/2014/main" id="{6A2810FC-4C9F-499D-B9AC-8B26CF0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结构化协议驱动真实执行
独立验证器决定 PASS / FAIL</a:t>
            </a:r>
          </a:p>
        </p:txBody>
      </p:sp>
      <p:sp>
        <p:nvSpPr>
          <p:cNvPr id="10" name="detail-1">
            <a:extLst xmlns:a="http://schemas.openxmlformats.org/drawingml/2006/main">
              <a:ext uri="{FF2B5EF4-FFF2-40B4-BE49-F238E27FC236}">
                <a16:creationId xmlns:a16="http://schemas.microsoft.com/office/drawing/2014/main" id="{68C84FEC-DD26-485E-AE21-B130D2B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白名单任务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C0F6E10D-D31B-4E9D-8681-8AAA65B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能力边界</a:t>
            </a:r>
          </a:p>
        </p:txBody>
      </p:sp>
      <p:sp>
        <p:nvSpPr>
          <p:cNvPr id="12" name="detail-3">
            <a:extLst xmlns:a="http://schemas.openxmlformats.org/drawingml/2006/main">
              <a:ext uri="{FF2B5EF4-FFF2-40B4-BE49-F238E27FC236}">
                <a16:creationId xmlns:a16="http://schemas.microsoft.com/office/drawing/2014/main" id="{DDF639DA-97EF-4E31-827C-2754E01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真实 GPU</a:t>
            </a:r>
          </a:p>
        </p:txBody>
      </p:sp>
      <p:sp>
        <p:nvSpPr>
          <p:cNvPr id="13" name="detail-4">
            <a:extLst xmlns:a="http://schemas.openxmlformats.org/drawingml/2006/main">
              <a:ext uri="{FF2B5EF4-FFF2-40B4-BE49-F238E27FC236}">
                <a16:creationId xmlns:a16="http://schemas.microsoft.com/office/drawing/2014/main" id="{0B415933-CD82-49E2-B375-4C73ABC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证据归档</a:t>
            </a:r>
          </a:p>
        </p:txBody>
      </p:sp>
      <p:sp>
        <p:nvSpPr>
          <p:cNvPr id="14" name="detail-1b">
            <a:extLst xmlns:a="http://schemas.openxmlformats.org/drawingml/2006/main">
              <a:ext uri="{FF2B5EF4-FFF2-40B4-BE49-F238E27FC236}">
                <a16:creationId xmlns:a16="http://schemas.microsoft.com/office/drawing/2014/main" id="{1C019A69-173A-4E2D-ABC0-0FB33EA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不执行任意代码</a:t>
            </a:r>
          </a:p>
        </p:txBody>
      </p:sp>
      <p:sp>
        <p:nvSpPr>
          <p:cNvPr id="15" name="detail-2b">
            <a:extLst xmlns:a="http://schemas.openxmlformats.org/drawingml/2006/main">
              <a:ext uri="{FF2B5EF4-FFF2-40B4-BE49-F238E27FC236}">
                <a16:creationId xmlns:a16="http://schemas.microsoft.com/office/drawing/2014/main" id="{53EC4352-3CBE-444E-ACD7-3B15B0A7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规模与预算校验</a:t>
            </a:r>
          </a:p>
        </p:txBody>
      </p:sp>
      <p:sp>
        <p:nvSpPr>
          <p:cNvPr id="16" name="detail-3b">
            <a:extLst xmlns:a="http://schemas.openxmlformats.org/drawingml/2006/main">
              <a:ext uri="{FF2B5EF4-FFF2-40B4-BE49-F238E27FC236}">
                <a16:creationId xmlns:a16="http://schemas.microsoft.com/office/drawing/2014/main" id="{7529FAC3-7485-406D-9B81-9B1EB90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UnitaryLab GPU 后端</a:t>
            </a:r>
          </a:p>
        </p:txBody>
      </p:sp>
      <p:sp>
        <p:nvSpPr>
          <p:cNvPr id="17" name="detail-4b">
            <a:extLst xmlns:a="http://schemas.openxmlformats.org/drawingml/2006/main">
              <a:ext uri="{FF2B5EF4-FFF2-40B4-BE49-F238E27FC236}">
                <a16:creationId xmlns:a16="http://schemas.microsoft.com/office/drawing/2014/main" id="{CBBD7D41-A162-403E-9998-B52E616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435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JSON / SVG / 报告</a:t>
            </a:r>
          </a:p>
        </p:txBody>
      </p:sp>
    </p:spTree>
    <p:extLst>
      <p:ext uri="{BB962C8B-B14F-4D97-AF65-F5344CB8AC3E}">
        <p14:creationId xmlns:p14="http://schemas.microsoft.com/office/powerpoint/2010/main" val="13933160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5F2A1FF6-6A6A-4BCF-9D3D-71B2916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自然语言只表达意图，确定性流程负责科学可信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492C442E-75FD-4E4E-A5CF-FE5EE52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03</a:t>
            </a:r>
          </a:p>
        </p:txBody>
      </p:sp>
      <p:cxnSp>
        <p:nvCxnSpPr>
          <p:cNvPr id="18" name="timeline"/>
          <p:cNvCxnSpPr/>
          <p:nvPr/>
        </p:nvCxnSpPr>
        <p:spPr>
          <a:xfrm xmlns:a="http://schemas.openxmlformats.org/drawingml/2006/main">
            <a:off x="514350" y="31432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1018"/>
            </a:solidFill>
            <a:prstDash val="solid"/>
          </a:ln>
        </p:spPr>
      </p:cxn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DDAFF41A-79BA-4900-9691-82840660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C6680E33-02C3-4DED-8877-881DD9D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3">
            <a:extLst xmlns:a="http://schemas.openxmlformats.org/drawingml/2006/main">
              <a:ext uri="{FF2B5EF4-FFF2-40B4-BE49-F238E27FC236}">
                <a16:creationId xmlns:a16="http://schemas.microsoft.com/office/drawing/2014/main" id="{F4FD4786-FD2C-48E3-8885-844F558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A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FD67CC24-E2C7-4714-AA14-96CC59E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01  理解与约束</a:t>
            </a:r>
          </a:p>
        </p:txBody>
      </p:sp>
      <p:sp>
        <p:nvSpPr>
          <p:cNvPr id="8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8C4749FF-2B2B-4D1D-9D3C-2FDCDFA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02  构建与执行</a:t>
            </a:r>
          </a:p>
        </p:txBody>
      </p:sp>
      <p:sp>
        <p:nvSpPr>
          <p:cNvPr id="9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C10EF089-9C05-4FFB-AD1F-BBFDCFD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03  验证与报告</a:t>
            </a:r>
          </a:p>
        </p:txBody>
      </p:sp>
      <p:sp>
        <p:nvSpPr>
          <p:cNvPr id="10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74FDC108-D232-4D94-A9B5-6DFA11A2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意图 → 协议</a:t>
            </a:r>
          </a:p>
        </p:txBody>
      </p:sp>
      <p:sp>
        <p:nvSpPr>
          <p:cNvPr id="11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969152CA-80AB-4AD8-B939-2D2A40AE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3143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识别算法与参数
校验规模、目标态、图边和预算</a:t>
            </a:r>
          </a:p>
        </p:txBody>
      </p:sp>
      <p:sp>
        <p:nvSpPr>
          <p:cNvPr id="12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ECD11AA7-3B48-40F7-BD84-3005E4C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协议 → 量子任务</a:t>
            </a:r>
          </a:p>
        </p:txBody>
      </p:sp>
      <p:sp>
        <p:nvSpPr>
          <p:cNvPr id="13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40B7CEA-DDFD-437F-B9AF-AEBBD7E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3143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构建确定性线路
在 CPU / Biren GPU 后端执行</a:t>
            </a:r>
          </a:p>
        </p:txBody>
      </p:sp>
      <p:sp>
        <p:nvSpPr>
          <p:cNvPr id="14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745D36B0-FAAF-409B-899B-DC906638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3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数值 → 可审计证据</a:t>
            </a:r>
          </a:p>
        </p:txBody>
      </p:sp>
      <p:sp>
        <p:nvSpPr>
          <p:cNvPr id="15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88A51274-4597-4D64-BB26-87354FF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333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解析公式 / 经典穷举 / 跨设备
生成误差、线路和复现报告</a:t>
            </a:r>
          </a:p>
        </p:txBody>
      </p:sp>
    </p:spTree>
    <p:extLst>
      <p:ext uri="{BB962C8B-B14F-4D97-AF65-F5344CB8AC3E}">
        <p14:creationId xmlns:p14="http://schemas.microsoft.com/office/powerpoint/2010/main" val="3555623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63B26C3-2D51-4637-89F1-E3F68390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四类稳定任务，覆盖基础态、搜索与组合优化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478D69E-1F94-42D8-A640-A0B99DED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04</a:t>
            </a:r>
          </a:p>
        </p:txBody>
      </p:sp>
      <p:sp>
        <p:nvSpPr>
          <p:cNvPr id="3" name="alg-1-title">
            <a:extLst xmlns:a="http://schemas.openxmlformats.org/drawingml/2006/main">
              <a:ext uri="{FF2B5EF4-FFF2-40B4-BE49-F238E27FC236}">
                <a16:creationId xmlns:a16="http://schemas.microsoft.com/office/drawing/2014/main" id="{8EB764E2-E9DD-4CC9-9047-3C50C8B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Bell 纠缠态</a:t>
            </a:r>
          </a:p>
        </p:txBody>
      </p:sp>
      <p:sp>
        <p:nvSpPr>
          <p:cNvPr id="4" name="alg-1-body">
            <a:extLst xmlns:a="http://schemas.openxmlformats.org/drawingml/2006/main">
              <a:ext uri="{FF2B5EF4-FFF2-40B4-BE49-F238E27FC236}">
                <a16:creationId xmlns:a16="http://schemas.microsoft.com/office/drawing/2014/main" id="{9E0FB4E8-1A3A-460F-A00A-336FE89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4476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2 比特解析概率验证
CPU / GPU 最终态对比</a:t>
            </a:r>
          </a:p>
        </p:txBody>
      </p:sp>
      <p:sp>
        <p:nvSpPr>
          <p:cNvPr id="5" name="alg-2-title">
            <a:extLst xmlns:a="http://schemas.openxmlformats.org/drawingml/2006/main">
              <a:ext uri="{FF2B5EF4-FFF2-40B4-BE49-F238E27FC236}">
                <a16:creationId xmlns:a16="http://schemas.microsoft.com/office/drawing/2014/main" id="{53300BC0-EFE3-4B99-AC74-3D1F1495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GHZ 多比特态</a:t>
            </a:r>
          </a:p>
        </p:txBody>
      </p:sp>
      <p:sp>
        <p:nvSpPr>
          <p:cNvPr id="6" name="alg-2-body">
            <a:extLst xmlns:a="http://schemas.openxmlformats.org/drawingml/2006/main">
              <a:ext uri="{FF2B5EF4-FFF2-40B4-BE49-F238E27FC236}">
                <a16:creationId xmlns:a16="http://schemas.microsoft.com/office/drawing/2014/main" id="{19143976-F017-4D22-9A15-D0F5EB6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3–20 比特状态矢量模拟
概率归一化与解析态校验</a:t>
            </a:r>
          </a:p>
        </p:txBody>
      </p:sp>
      <p:sp>
        <p:nvSpPr>
          <p:cNvPr id="7" name="alg-3-title">
            <a:extLst xmlns:a="http://schemas.openxmlformats.org/drawingml/2006/main">
              <a:ext uri="{FF2B5EF4-FFF2-40B4-BE49-F238E27FC236}">
                <a16:creationId xmlns:a16="http://schemas.microsoft.com/office/drawing/2014/main" id="{F388345D-CF16-4C77-B38C-7F9EE17D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Grover 搜索</a:t>
            </a:r>
          </a:p>
        </p:txBody>
      </p:sp>
      <p:sp>
        <p:nvSpPr>
          <p:cNvPr id="8" name="alg-3-body">
            <a:extLst xmlns:a="http://schemas.openxmlformats.org/drawingml/2006/main">
              <a:ext uri="{FF2B5EF4-FFF2-40B4-BE49-F238E27FC236}">
                <a16:creationId xmlns:a16="http://schemas.microsoft.com/office/drawing/2014/main" id="{2537AACE-A090-4054-B8CF-7EB1648E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4667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目标态与位序归一化
理论迭代次数与成功概率比较</a:t>
            </a:r>
          </a:p>
        </p:txBody>
      </p:sp>
      <p:sp>
        <p:nvSpPr>
          <p:cNvPr id="9" name="alg-4-title">
            <a:extLst xmlns:a="http://schemas.openxmlformats.org/drawingml/2006/main">
              <a:ext uri="{FF2B5EF4-FFF2-40B4-BE49-F238E27FC236}">
                <a16:creationId xmlns:a16="http://schemas.microsoft.com/office/drawing/2014/main" id="{78BF95D6-6300-4D56-9E17-F58B7C4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QAOA MaxCut</a:t>
            </a:r>
          </a:p>
        </p:txBody>
      </p:sp>
      <p:sp>
        <p:nvSpPr>
          <p:cNvPr id="10" name="alg-4-body">
            <a:extLst xmlns:a="http://schemas.openxmlformats.org/drawingml/2006/main">
              <a:ext uri="{FF2B5EF4-FFF2-40B4-BE49-F238E27FC236}">
                <a16:creationId xmlns:a16="http://schemas.microsoft.com/office/drawing/2014/main" id="{66AEEA02-E189-4CAA-AAE4-EEA0CDA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762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Biren GPU 变分优化
经典穷举最优值与近似比验证</a:t>
            </a:r>
          </a:p>
        </p:txBody>
      </p:sp>
      <p:sp>
        <p:nvSpPr>
          <p:cNvPr id="11" name="alg-rule-v">
            <a:extLst xmlns:a="http://schemas.openxmlformats.org/drawingml/2006/main">
              <a:ext uri="{FF2B5EF4-FFF2-40B4-BE49-F238E27FC236}">
                <a16:creationId xmlns:a16="http://schemas.microsoft.com/office/drawing/2014/main" id="{794D9076-B952-4FB7-8565-A1CC9C2A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6C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4" name="alg-rule-h"/>
          <p:cNvCxnSpPr/>
          <p:nvPr/>
        </p:nvCxnSpPr>
        <p:spPr>
          <a:xfrm xmlns:a="http://schemas.openxmlformats.org/drawingml/2006/main">
            <a:off x="514350" y="35242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C6C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829616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D4241179-3148-4378-A6E5-73923B2E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四类算法全部通过独立正确性验收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198EB045-DE4F-4A3D-9D53-91FF48E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05</a:t>
            </a:r>
          </a:p>
        </p:txBody>
      </p:sp>
      <p:sp>
        <p:nvSpPr>
          <p:cNvPr id="3" name="validation-context">
            <a:extLst xmlns:a="http://schemas.openxmlformats.org/drawingml/2006/main">
              <a:ext uri="{FF2B5EF4-FFF2-40B4-BE49-F238E27FC236}">
                <a16:creationId xmlns:a16="http://schemas.microsoft.com/office/drawing/2014/main" id="{01ABA207-7967-4EB3-809E-F896870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2026-07-27 在赛事 Biren106M 节点完整执行；PASS 由数值验证字段决定，而非说明文字。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588CF8B-F298-400E-8C1A-9FD3A062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63F42713-0608-422F-A0FD-76926FEF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699DB40F-1F34-446B-A914-B9012DE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5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C5F70A0B-4754-4AB6-8054-CA6E129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4 / 4</a:t>
            </a:r>
          </a:p>
        </p:txBody>
      </p:sp>
      <p:sp>
        <p:nvSpPr>
          <p:cNvPr id="8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E5B35750-BCDF-46D7-8BE6-1CA7CE3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Bell · GHZ · Grover · QAOA
正确性套件全部 PASS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69A04A3F-4D6D-4478-92B7-22C631E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908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</a:t>
            </a:r>
          </a:p>
        </p:txBody>
      </p:sp>
      <p:sp>
        <p:nvSpPr>
          <p:cNvPr id="10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81C66409-772F-4F04-84E0-C485F78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767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Bell / GHZ / Grover
CPU 与 GPU 关键结果差异</a:t>
            </a:r>
          </a:p>
        </p:txBody>
      </p:sp>
      <p:sp>
        <p:nvSpPr>
          <p:cNvPr id="11" name="metric-3">
            <a:extLst xmlns:a="http://schemas.openxmlformats.org/drawingml/2006/main">
              <a:ext uri="{FF2B5EF4-FFF2-40B4-BE49-F238E27FC236}">
                <a16:creationId xmlns:a16="http://schemas.microsoft.com/office/drawing/2014/main" id="{939C19F5-A943-4EA8-BDC4-BB4D7325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1.000</a:t>
            </a:r>
          </a:p>
        </p:txBody>
      </p:sp>
      <p:sp>
        <p:nvSpPr>
          <p:cNvPr id="12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5597DB0A-0F1D-47E7-9390-DC1E5B4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QAOA 解 0101，割值 4
与经典精确最优值一致</a:t>
            </a:r>
          </a:p>
        </p:txBody>
      </p:sp>
      <p:sp>
        <p:nvSpPr>
          <p:cNvPr id="13" name="validation-source">
            <a:extLst xmlns:a="http://schemas.openxmlformats.org/drawingml/2006/main">
              <a:ext uri="{FF2B5EF4-FFF2-40B4-BE49-F238E27FC236}">
                <a16:creationId xmlns:a16="http://schemas.microsoft.com/office/drawing/2014/main" id="{DA3C1C72-9153-4D4B-996E-07CA42C9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来源：reports/generated/correctness_results.json</a:t>
            </a:r>
          </a:p>
        </p:txBody>
      </p:sp>
    </p:spTree>
    <p:extLst>
      <p:ext uri="{BB962C8B-B14F-4D97-AF65-F5344CB8AC3E}">
        <p14:creationId xmlns:p14="http://schemas.microsoft.com/office/powerpoint/2010/main" val="10143528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707B0C54-8758-45C3-A76F-9D93CC94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QAOA 输出不是一个比特串，而是一条证据链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2429EB1A-4488-48DF-8769-01BEA34A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06</a:t>
            </a:r>
          </a:p>
        </p:txBody>
      </p:sp>
      <p:sp>
        <p:nvSpPr>
          <p:cNvPr id="3" name="cut-frame">
            <a:extLst xmlns:a="http://schemas.openxmlformats.org/drawingml/2006/main">
              <a:ext uri="{FF2B5EF4-FFF2-40B4-BE49-F238E27FC236}">
                <a16:creationId xmlns:a16="http://schemas.microsoft.com/office/drawing/2014/main" id="{329E4A18-A8E7-44C1-9C29-2249A191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6CE"/>
            </a:solidFill>
            <a:prstDash val="solid"/>
          </a:ln>
        </p:spPr>
      </p:sp>
      <p:sp>
        <p:nvSpPr>
          <p:cNvPr id="4" name="conv-frame">
            <a:extLst xmlns:a="http://schemas.openxmlformats.org/drawingml/2006/main">
              <a:ext uri="{FF2B5EF4-FFF2-40B4-BE49-F238E27FC236}">
                <a16:creationId xmlns:a16="http://schemas.microsoft.com/office/drawing/2014/main" id="{BDE95649-778D-4610-A5CA-2EF6472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5600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6CE"/>
            </a:solidFill>
            <a:prstDash val="solid"/>
          </a:ln>
        </p:spPr>
      </p:sp>
      <p:sp>
        <p:nvSpPr>
          <p:cNvPr id="5" name="cut-label">
            <a:extLst xmlns:a="http://schemas.openxmlformats.org/drawingml/2006/main">
              <a:ext uri="{FF2B5EF4-FFF2-40B4-BE49-F238E27FC236}">
                <a16:creationId xmlns:a16="http://schemas.microsoft.com/office/drawing/2014/main" id="{9B31E830-CF0E-4E67-93C6-9EAEE316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最优割结构</a:t>
            </a:r>
          </a:p>
        </p:txBody>
      </p:sp>
      <p:sp>
        <p:nvSpPr>
          <p:cNvPr id="6" name="cut-detail">
            <a:extLst xmlns:a="http://schemas.openxmlformats.org/drawingml/2006/main">
              <a:ext uri="{FF2B5EF4-FFF2-40B4-BE49-F238E27FC236}">
                <a16:creationId xmlns:a16="http://schemas.microsoft.com/office/drawing/2014/main" id="{99D50B89-5A9A-4C85-A699-193867F9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解 0101 · 割值 4</a:t>
            </a:r>
          </a:p>
        </p:txBody>
      </p:sp>
      <p:sp>
        <p:nvSpPr>
          <p:cNvPr id="7" name="conv-label">
            <a:extLst xmlns:a="http://schemas.openxmlformats.org/drawingml/2006/main">
              <a:ext uri="{FF2B5EF4-FFF2-40B4-BE49-F238E27FC236}">
                <a16:creationId xmlns:a16="http://schemas.microsoft.com/office/drawing/2014/main" id="{4E2C4E64-3F05-4901-93A6-8116F808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变分优化收敛</a:t>
            </a:r>
          </a:p>
        </p:txBody>
      </p:sp>
      <p:sp>
        <p:nvSpPr>
          <p:cNvPr id="8" name="conv-detail">
            <a:extLst xmlns:a="http://schemas.openxmlformats.org/drawingml/2006/main">
              <a:ext uri="{FF2B5EF4-FFF2-40B4-BE49-F238E27FC236}">
                <a16:creationId xmlns:a16="http://schemas.microsoft.com/office/drawing/2014/main" id="{00F76BC0-B164-4171-B1A1-26A97D0B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436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2 层 · 30 轮预算 · Biren GPU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7042cb01e4bae"/>
          <a:stretch xmlns:a="http://schemas.openxmlformats.org/drawingml/2006/main"/>
        </p:blipFill>
        <p:spPr>
          <a:xfrm xmlns:a="http://schemas.openxmlformats.org/drawingml/2006/main">
            <a:off x="765175" y="1657350"/>
            <a:ext cx="4699000" cy="3524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0b45eab344e37"/>
          <a:stretch xmlns:a="http://schemas.openxmlformats.org/drawingml/2006/main"/>
        </p:blipFill>
        <p:spPr>
          <a:xfrm xmlns:a="http://schemas.openxmlformats.org/drawingml/2006/main">
            <a:off x="6457950" y="1730375"/>
            <a:ext cx="5067300" cy="337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8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5C8AABBC-5AFF-4F1A-AD00-733ABB4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压力测试扩到 26 比特；优化延迟，不虚构加速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20A5ADAD-0C5F-4C29-A963-5937E4CE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07</a:t>
            </a:r>
          </a:p>
        </p:txBody>
      </p:sp>
      <p:sp>
        <p:nvSpPr>
          <p:cNvPr id="3" name="chart-frame">
            <a:extLst xmlns:a="http://schemas.openxmlformats.org/drawingml/2006/main">
              <a:ext uri="{FF2B5EF4-FFF2-40B4-BE49-F238E27FC236}">
                <a16:creationId xmlns:a16="http://schemas.microsoft.com/office/drawing/2014/main" id="{D9A82564-22D2-43D4-8646-3E29934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61912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018"/>
            </a:solidFill>
            <a:prstDash val="solid"/>
          </a:ln>
        </p:spPr>
      </p:sp>
      <p:sp>
        <p:nvSpPr>
          <p:cNvPr id="4" name="perf-chart-label">
            <a:extLst xmlns:a="http://schemas.openxmlformats.org/drawingml/2006/main">
              <a:ext uri="{FF2B5EF4-FFF2-40B4-BE49-F238E27FC236}">
                <a16:creationId xmlns:a16="http://schemas.microsoft.com/office/drawing/2014/main" id="{A7B5DE4B-06FD-4A3B-9D17-87439565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稳定态中位耗时（ms）</a:t>
            </a:r>
          </a:p>
        </p:txBody>
      </p:sp>
      <p:sp>
        <p:nvSpPr>
          <p:cNvPr id="5" name="perf-label">
            <a:extLst xmlns:a="http://schemas.openxmlformats.org/drawingml/2006/main">
              <a:ext uri="{FF2B5EF4-FFF2-40B4-BE49-F238E27FC236}">
                <a16:creationId xmlns:a16="http://schemas.microsoft.com/office/drawing/2014/main" id="{D7F72C1F-4026-4886-9DB5-8B74E91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结论</a:t>
            </a:r>
          </a:p>
        </p:txBody>
      </p:sp>
      <p:sp>
        <p:nvSpPr>
          <p:cNvPr id="6" name="perf-copy">
            <a:extLst xmlns:a="http://schemas.openxmlformats.org/drawingml/2006/main">
              <a:ext uri="{FF2B5EF4-FFF2-40B4-BE49-F238E27FC236}">
                <a16:creationId xmlns:a16="http://schemas.microsoft.com/office/drawing/2014/main" id="{B1218CC9-5F12-476B-8712-938918C1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4381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8–26 比特 GHZ：预热 2 次，再采集 7 个独立样本。当前 UnitaryLab 1.0 下 GPU 稳定态仍慢于 CPU；实际优化是把约 2.91 秒初始化移到 Web 启动阶段，并保留 P95 与逐次样本。</a:t>
            </a:r>
          </a:p>
        </p:txBody>
      </p:sp>
      <p:sp>
        <p:nvSpPr>
          <p:cNvPr id="7" name="perf-stat-1">
            <a:extLst xmlns:a="http://schemas.openxmlformats.org/drawingml/2006/main">
              <a:ext uri="{FF2B5EF4-FFF2-40B4-BE49-F238E27FC236}">
                <a16:creationId xmlns:a16="http://schemas.microsoft.com/office/drawing/2014/main" id="{BFF1A848-2863-4AB5-B601-6E32194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672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2.91 s</a:t>
            </a:r>
          </a:p>
        </p:txBody>
      </p:sp>
      <p:sp>
        <p:nvSpPr>
          <p:cNvPr id="8" name="perf-stat-1-label">
            <a:extLst xmlns:a="http://schemas.openxmlformats.org/drawingml/2006/main">
              <a:ext uri="{FF2B5EF4-FFF2-40B4-BE49-F238E27FC236}">
                <a16:creationId xmlns:a16="http://schemas.microsoft.com/office/drawing/2014/main" id="{8E718D52-2A90-4194-AF44-19D6E81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初始化移出首个请求</a:t>
            </a:r>
          </a:p>
        </p:txBody>
      </p:sp>
      <p:sp>
        <p:nvSpPr>
          <p:cNvPr id="9" name="perf-stat-2">
            <a:extLst xmlns:a="http://schemas.openxmlformats.org/drawingml/2006/main">
              <a:ext uri="{FF2B5EF4-FFF2-40B4-BE49-F238E27FC236}">
                <a16:creationId xmlns:a16="http://schemas.microsoft.com/office/drawing/2014/main" id="{813BD2FD-DDBE-4257-AC40-C36E28DC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672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7.52 s</a:t>
            </a:r>
          </a:p>
        </p:txBody>
      </p:sp>
      <p:sp>
        <p:nvSpPr>
          <p:cNvPr id="10" name="perf-stat-2-label">
            <a:extLst xmlns:a="http://schemas.openxmlformats.org/drawingml/2006/main">
              <a:ext uri="{FF2B5EF4-FFF2-40B4-BE49-F238E27FC236}">
                <a16:creationId xmlns:a16="http://schemas.microsoft.com/office/drawing/2014/main" id="{0797935F-BF69-49FC-B17D-0D7FC5E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768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26 比特 GPU 中位耗时</a:t>
            </a:r>
          </a:p>
        </p:txBody>
      </p:sp>
      <p:sp>
        <p:nvSpPr>
          <p:cNvPr id="11" name="perf-source">
            <a:extLst xmlns:a="http://schemas.openxmlformats.org/drawingml/2006/main">
              <a:ext uri="{FF2B5EF4-FFF2-40B4-BE49-F238E27FC236}">
                <a16:creationId xmlns:a16="http://schemas.microsoft.com/office/drawing/2014/main" id="{B2AF17F7-480F-4833-901C-FBC8C16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来源：benchmark.json · 完整状态差为 0 · 24 比特最佳加速比 0.604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7aade2e00c443c"/>
          </a:graphicData>
        </a:graphic>
      </p:graphicFrame>
    </p:spTree>
    <p:extLst>
      <p:ext uri="{BB962C8B-B14F-4D97-AF65-F5344CB8AC3E}">
        <p14:creationId xmlns:p14="http://schemas.microsoft.com/office/powerpoint/2010/main" val="2246608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005FBEA4-8949-4D71-8FB6-CFFA84F3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C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QUANTAFORGE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9BE77AD-CC4F-49E9-9D7F-4CE2E63B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710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把量子演示升级为
可复现的实验交付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986BAE1-18AC-40E8-A4F7-FFD3C19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1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t>一句话提出任务  ·  真实 GPU 执行  ·  独立数值验证  ·  全链路证据归档</a:t>
            </a:r>
          </a:p>
        </p:txBody>
      </p:sp>
      <p:cxnSp>
        <p:nvCxnSpPr>
          <p:cNvPr id="8" name="close-accent"/>
          <p:cNvCxnSpPr/>
          <p:nvPr/>
        </p:nvCxnSpPr>
        <p:spPr>
          <a:xfrm xmlns:a="http://schemas.openxmlformats.org/drawingml/2006/main">
            <a:off x="419100" y="5772150"/>
            <a:ext cx="304800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DAED1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95250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2026-07-27T08:30:30.4140000Z</dcterms:created>
  <dcterms:modified xsi:type="dcterms:W3CDTF">2026-07-27T08:30:30.4140000Z</dcterms:modified>
</coreProperties>
</file>